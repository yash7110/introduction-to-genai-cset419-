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4" d="100"/>
          <a:sy n="134" d="100"/>
        </p:scale>
        <p:origin x="9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83427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4F8E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0D1B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583680" y="731520"/>
            <a:ext cx="109728" cy="109728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498080" y="1097280"/>
            <a:ext cx="109728" cy="109728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412480" y="822960"/>
            <a:ext cx="109728" cy="109728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949440" y="1828800"/>
            <a:ext cx="109728" cy="109728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863840" y="1645920"/>
            <a:ext cx="109728" cy="109728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595360" y="2011680"/>
            <a:ext cx="109728" cy="109728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675120" y="2743200"/>
            <a:ext cx="109728" cy="109728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589520" y="2560320"/>
            <a:ext cx="109728" cy="109728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321040" y="2834640"/>
            <a:ext cx="109728" cy="109728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132320" y="3566160"/>
            <a:ext cx="109728" cy="109728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046720" y="3200400"/>
            <a:ext cx="109728" cy="109728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686800" y="3657600"/>
            <a:ext cx="109728" cy="109728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638544" y="786384"/>
            <a:ext cx="1280160" cy="914400"/>
          </a:xfrm>
          <a:prstGeom prst="line">
            <a:avLst/>
          </a:prstGeom>
          <a:noFill/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552944" y="1152144"/>
            <a:ext cx="1097280" cy="914400"/>
          </a:xfrm>
          <a:prstGeom prst="line">
            <a:avLst/>
          </a:prstGeom>
          <a:noFill/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467344" y="877824"/>
            <a:ext cx="182880" cy="1188720"/>
          </a:xfrm>
          <a:prstGeom prst="line">
            <a:avLst/>
          </a:prstGeom>
          <a:noFill/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004304" y="1883664"/>
            <a:ext cx="0" cy="914400"/>
          </a:xfrm>
          <a:prstGeom prst="line">
            <a:avLst/>
          </a:prstGeom>
          <a:noFill/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918704" y="1700784"/>
            <a:ext cx="0" cy="914400"/>
          </a:xfrm>
          <a:prstGeom prst="line">
            <a:avLst/>
          </a:prstGeom>
          <a:noFill/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650224" y="2066544"/>
            <a:ext cx="0" cy="822960"/>
          </a:xfrm>
          <a:prstGeom prst="line">
            <a:avLst/>
          </a:prstGeom>
          <a:noFill/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729984" y="2798064"/>
            <a:ext cx="457200" cy="822960"/>
          </a:xfrm>
          <a:prstGeom prst="line">
            <a:avLst/>
          </a:prstGeom>
          <a:noFill/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644384" y="2615184"/>
            <a:ext cx="457200" cy="640080"/>
          </a:xfrm>
          <a:prstGeom prst="line">
            <a:avLst/>
          </a:prstGeom>
          <a:noFill/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375904" y="2889504"/>
            <a:ext cx="365760" cy="822960"/>
          </a:xfrm>
          <a:prstGeom prst="line">
            <a:avLst/>
          </a:prstGeom>
          <a:noFill/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3931920"/>
            <a:ext cx="502920" cy="502920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320040" y="274320"/>
            <a:ext cx="2194560" cy="292608"/>
          </a:xfrm>
          <a:prstGeom prst="rect">
            <a:avLst/>
          </a:prstGeom>
          <a:solidFill>
            <a:srgbClr val="4F8EF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320040" y="2743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RESEARCH PRESENTATION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320040" y="658368"/>
            <a:ext cx="3474720" cy="256032"/>
          </a:xfrm>
          <a:prstGeom prst="rect">
            <a:avLst/>
          </a:prstGeom>
          <a:solidFill>
            <a:srgbClr val="0D1B4B"/>
          </a:solidFill>
          <a:ln w="12700">
            <a:solidFill>
              <a:srgbClr val="1A2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320040" y="658368"/>
            <a:ext cx="347472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C8D8FF"/>
                </a:solidFill>
              </a:rPr>
              <a:t>CSET431 – Special Topics in Computer Engineering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228600" y="1051560"/>
            <a:ext cx="5669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Image-to-Image</a:t>
            </a:r>
            <a:endParaRPr lang="en-US" sz="4000" dirty="0"/>
          </a:p>
        </p:txBody>
      </p:sp>
      <p:sp>
        <p:nvSpPr>
          <p:cNvPr id="31" name="Text 28"/>
          <p:cNvSpPr/>
          <p:nvPr/>
        </p:nvSpPr>
        <p:spPr>
          <a:xfrm>
            <a:off x="228600" y="1691640"/>
            <a:ext cx="5669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F8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Translation using Pix2Pix</a:t>
            </a:r>
            <a:endParaRPr lang="en-US" sz="3200" dirty="0"/>
          </a:p>
        </p:txBody>
      </p:sp>
      <p:sp>
        <p:nvSpPr>
          <p:cNvPr id="32" name="Text 29"/>
          <p:cNvSpPr/>
          <p:nvPr/>
        </p:nvSpPr>
        <p:spPr>
          <a:xfrm>
            <a:off x="228600" y="2395728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8D8FF"/>
                </a:solidFill>
              </a:rPr>
              <a:t>Edges2Shoes Dataset  •  Conditional GAN Framework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228600" y="2816352"/>
            <a:ext cx="3200400" cy="36576"/>
          </a:xfrm>
          <a:prstGeom prst="rect">
            <a:avLst/>
          </a:prstGeom>
          <a:solidFill>
            <a:srgbClr val="00D4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228600" y="294436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0D4B0"/>
                </a:solidFill>
              </a:rPr>
              <a:t>Student: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1600200" y="294436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Research Scholar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228600" y="331012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0D4B0"/>
                </a:solidFill>
              </a:rPr>
              <a:t>Roll No: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1600200" y="331012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BU21CSEN0XXXXX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228600" y="367588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0D4B0"/>
                </a:solidFill>
              </a:rPr>
              <a:t>Faculty Mentor: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1600200" y="367588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Prof. [Mentor Name]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228600" y="40416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0D4B0"/>
                </a:solidFill>
              </a:rPr>
              <a:t>School: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1600200" y="404164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SCSET – Bennett University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228600" y="440740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0D4B0"/>
                </a:solidFill>
              </a:rPr>
              <a:t>Date: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1600200" y="440740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February 2026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8E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74320" y="182880"/>
            <a:ext cx="411480" cy="411480"/>
          </a:xfrm>
          <a:prstGeom prst="ellipse">
            <a:avLst/>
          </a:prstGeom>
          <a:solidFill>
            <a:srgbClr val="4F8E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82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41248" y="182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5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Abstract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28600" y="822960"/>
            <a:ext cx="416052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28600" y="822960"/>
            <a:ext cx="4160520" cy="64008"/>
          </a:xfrm>
          <a:prstGeom prst="rect">
            <a:avLst/>
          </a:prstGeom>
          <a:solidFill>
            <a:srgbClr val="4F8E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" y="950976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950976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50"/>
                </a:solidFill>
              </a:rPr>
              <a:t>Overview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93192" y="1389888"/>
            <a:ext cx="38313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DA8"/>
                </a:solidFill>
              </a:rPr>
              <a:t>Pix2Pix is a conditional GAN framework that learns image-to-image translation from paired data, transforming edge sketches into photorealistic shoe photographs.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480560" y="822960"/>
            <a:ext cx="416052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480560" y="822960"/>
            <a:ext cx="4160520" cy="64008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5152" y="950976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074920" y="950976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50"/>
                </a:solidFill>
              </a:rPr>
              <a:t>Purpose of Study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645152" y="1389888"/>
            <a:ext cx="38313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DA8"/>
                </a:solidFill>
              </a:rPr>
              <a:t>Investigate how architectural choices — especially skip connections and PatchGAN discriminator — affect translation quality on the Edges2Shoes dataset.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228600" y="2651760"/>
            <a:ext cx="416052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228600" y="2651760"/>
            <a:ext cx="4160520" cy="64008"/>
          </a:xfrm>
          <a:prstGeom prst="rect">
            <a:avLst/>
          </a:prstGeom>
          <a:solidFill>
            <a:srgbClr val="00D4B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192" y="2779776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2960" y="2779776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50"/>
                </a:solidFill>
              </a:rPr>
              <a:t>Key Findings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393192" y="3218688"/>
            <a:ext cx="38313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DA8"/>
                </a:solidFill>
              </a:rPr>
              <a:t>U-Net skip connections improved PSNR by 25% (22.8 dB). Combined adversarial + L1 loss produced sharper, more realistic outputs than either loss alone.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4480560" y="2651760"/>
            <a:ext cx="416052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4480560" y="2651760"/>
            <a:ext cx="4160520" cy="64008"/>
          </a:xfrm>
          <a:prstGeom prst="rect">
            <a:avLst/>
          </a:prstGeom>
          <a:solidFill>
            <a:srgbClr val="4F8E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5152" y="2779776"/>
            <a:ext cx="347472" cy="34747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074920" y="2779776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50"/>
                </a:solidFill>
              </a:rPr>
              <a:t>Technologies Used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645152" y="3218688"/>
            <a:ext cx="38313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DA8"/>
                </a:solidFill>
              </a:rPr>
              <a:t>PyTorch · U-Net Generator · PatchGAN Discriminator · Edges2Shoes Dataset · Flask Deployment · Streamlit Interface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74320" y="182880"/>
            <a:ext cx="411480" cy="411480"/>
          </a:xfrm>
          <a:prstGeom prst="ellipse">
            <a:avLst/>
          </a:prstGeom>
          <a:solidFill>
            <a:srgbClr val="00D4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82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F2C"/>
                </a:solidFill>
              </a:rPr>
              <a:t>03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41248" y="182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28600" y="841248"/>
            <a:ext cx="5029200" cy="1234440"/>
          </a:xfrm>
          <a:prstGeom prst="rect">
            <a:avLst/>
          </a:prstGeom>
          <a:solidFill>
            <a:srgbClr val="1A2550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950976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93268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B0"/>
                </a:solidFill>
              </a:rPr>
              <a:t>Background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84048" y="1344168"/>
            <a:ext cx="4773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8D8FF"/>
                </a:solidFill>
              </a:rPr>
              <a:t>Image-to-image translation maps images from source domain X to target domain Y while preserving structural content. Pix2Pix (Isola et al., 2017) unified this with a single cGAN framework.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28600" y="2212848"/>
            <a:ext cx="5029200" cy="1234440"/>
          </a:xfrm>
          <a:prstGeom prst="rect">
            <a:avLst/>
          </a:prstGeom>
          <a:solidFill>
            <a:srgbClr val="1A2550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2322576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22960" y="230428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B0"/>
                </a:solidFill>
              </a:rPr>
              <a:t>Importance in Current Technology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84048" y="2715768"/>
            <a:ext cx="4773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8D8FF"/>
                </a:solidFill>
              </a:rPr>
              <a:t>Foundation for autonomous driving (semantic maps), medical imaging, satellite imagery processing, and the billion-dollar generative AI design market.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228600" y="3584448"/>
            <a:ext cx="5029200" cy="1234440"/>
          </a:xfrm>
          <a:prstGeom prst="rect">
            <a:avLst/>
          </a:prstGeom>
          <a:solidFill>
            <a:srgbClr val="1A2550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3694176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2960" y="367588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B0"/>
                </a:solidFill>
              </a:rPr>
              <a:t>Problem Statement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384048" y="4087368"/>
            <a:ext cx="4773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8D8FF"/>
                </a:solidFill>
              </a:rPr>
              <a:t>Traditional CNNs using L1/L2 loss produce blurry outputs. Manual loss engineering is task-specific. No unified framework existed for diverse translation tasks.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5440680" y="804672"/>
            <a:ext cx="3474720" cy="4114800"/>
          </a:xfrm>
          <a:prstGeom prst="rect">
            <a:avLst/>
          </a:prstGeom>
          <a:solidFill>
            <a:srgbClr val="0D1B4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5440680" y="804672"/>
            <a:ext cx="3474720" cy="64008"/>
          </a:xfrm>
          <a:prstGeom prst="rect">
            <a:avLst/>
          </a:prstGeom>
          <a:solidFill>
            <a:srgbClr val="4F8E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96128" y="91440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053328" y="914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8EF7"/>
                </a:solidFill>
              </a:rPr>
              <a:t>Objectives</a:t>
            </a:r>
            <a:endParaRPr lang="en-US" sz="1400" dirty="0"/>
          </a:p>
        </p:txBody>
      </p:sp>
      <p:sp>
        <p:nvSpPr>
          <p:cNvPr id="22" name="Shape 16"/>
          <p:cNvSpPr/>
          <p:nvPr/>
        </p:nvSpPr>
        <p:spPr>
          <a:xfrm>
            <a:off x="5596128" y="1517904"/>
            <a:ext cx="256032" cy="256032"/>
          </a:xfrm>
          <a:prstGeom prst="ellipse">
            <a:avLst/>
          </a:prstGeom>
          <a:solidFill>
            <a:srgbClr val="4F8E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7"/>
          <p:cNvSpPr/>
          <p:nvPr/>
        </p:nvSpPr>
        <p:spPr>
          <a:xfrm>
            <a:off x="5596128" y="15179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5943600" y="148132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8D8FF"/>
                </a:solidFill>
              </a:rPr>
              <a:t>Implement Pix2Pix on the Edges2Shoes dataset from scratch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5596128" y="2121408"/>
            <a:ext cx="256032" cy="256032"/>
          </a:xfrm>
          <a:prstGeom prst="ellipse">
            <a:avLst/>
          </a:prstGeom>
          <a:solidFill>
            <a:srgbClr val="4F8E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0"/>
          <p:cNvSpPr/>
          <p:nvPr/>
        </p:nvSpPr>
        <p:spPr>
          <a:xfrm>
            <a:off x="5596128" y="21214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5943600" y="208483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8D8FF"/>
                </a:solidFill>
              </a:rPr>
              <a:t>Analyse impact of U-Net skip connections vs plain encoder-decoder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5596128" y="2724912"/>
            <a:ext cx="256032" cy="256032"/>
          </a:xfrm>
          <a:prstGeom prst="ellipse">
            <a:avLst/>
          </a:prstGeom>
          <a:solidFill>
            <a:srgbClr val="4F8E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3"/>
          <p:cNvSpPr/>
          <p:nvPr/>
        </p:nvSpPr>
        <p:spPr>
          <a:xfrm>
            <a:off x="5596128" y="27249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5943600" y="2688336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8D8FF"/>
                </a:solidFill>
              </a:rPr>
              <a:t>Evaluate quantitatively with PSNR &amp; SSIM metrics</a:t>
            </a:r>
            <a:endParaRPr lang="en-US" sz="950" dirty="0"/>
          </a:p>
        </p:txBody>
      </p:sp>
      <p:sp>
        <p:nvSpPr>
          <p:cNvPr id="31" name="Shape 25"/>
          <p:cNvSpPr/>
          <p:nvPr/>
        </p:nvSpPr>
        <p:spPr>
          <a:xfrm>
            <a:off x="5596128" y="3328416"/>
            <a:ext cx="256032" cy="256032"/>
          </a:xfrm>
          <a:prstGeom prst="ellipse">
            <a:avLst/>
          </a:prstGeom>
          <a:solidFill>
            <a:srgbClr val="4F8E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6"/>
          <p:cNvSpPr/>
          <p:nvPr/>
        </p:nvSpPr>
        <p:spPr>
          <a:xfrm>
            <a:off x="5596128" y="33284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5943600" y="32918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8D8FF"/>
                </a:solidFill>
              </a:rPr>
              <a:t>Deploy a real-time sketch-to-image web application</a:t>
            </a:r>
            <a:endParaRPr lang="en-US" sz="950" dirty="0"/>
          </a:p>
        </p:txBody>
      </p:sp>
      <p:sp>
        <p:nvSpPr>
          <p:cNvPr id="34" name="Shape 28"/>
          <p:cNvSpPr/>
          <p:nvPr/>
        </p:nvSpPr>
        <p:spPr>
          <a:xfrm>
            <a:off x="5596128" y="3931920"/>
            <a:ext cx="256032" cy="256032"/>
          </a:xfrm>
          <a:prstGeom prst="ellipse">
            <a:avLst/>
          </a:prstGeom>
          <a:solidFill>
            <a:srgbClr val="4F8E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29"/>
          <p:cNvSpPr/>
          <p:nvPr/>
        </p:nvSpPr>
        <p:spPr>
          <a:xfrm>
            <a:off x="5596128" y="39319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36" name="Text 30"/>
          <p:cNvSpPr/>
          <p:nvPr/>
        </p:nvSpPr>
        <p:spPr>
          <a:xfrm>
            <a:off x="5943600" y="3895344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8D8FF"/>
                </a:solidFill>
              </a:rPr>
              <a:t>Bridge theory and practice in conditional GAN research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8E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74320" y="182880"/>
            <a:ext cx="411480" cy="411480"/>
          </a:xfrm>
          <a:prstGeom prst="ellipse">
            <a:avLst/>
          </a:prstGeom>
          <a:solidFill>
            <a:srgbClr val="4F8E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82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41248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5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Overview of Pix2Pix Technology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1417320" cy="822960"/>
          </a:xfrm>
          <a:prstGeom prst="rect">
            <a:avLst/>
          </a:prstGeom>
          <a:solidFill>
            <a:srgbClr val="4F8EF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28600" y="996696"/>
            <a:ext cx="141732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Input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Edge Map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28600" y="1508760"/>
            <a:ext cx="14173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D8FF"/>
                </a:solidFill>
              </a:rPr>
              <a:t>256×256×1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664208" y="1371600"/>
            <a:ext cx="310896" cy="0"/>
          </a:xfrm>
          <a:prstGeom prst="line">
            <a:avLst/>
          </a:prstGeom>
          <a:noFill/>
          <a:ln w="254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2224" y="1252728"/>
            <a:ext cx="237744" cy="237744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1993392" y="960120"/>
            <a:ext cx="1417320" cy="822960"/>
          </a:xfrm>
          <a:prstGeom prst="rect">
            <a:avLst/>
          </a:prstGeom>
          <a:solidFill>
            <a:srgbClr val="6B3FA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993392" y="996696"/>
            <a:ext cx="141732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U-Net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Generator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993392" y="1508760"/>
            <a:ext cx="14173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D8FF"/>
                </a:solidFill>
              </a:rPr>
              <a:t>8 Enc + 8 Dec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3429000" y="1371600"/>
            <a:ext cx="310896" cy="0"/>
          </a:xfrm>
          <a:prstGeom prst="line">
            <a:avLst/>
          </a:prstGeom>
          <a:noFill/>
          <a:ln w="254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7016" y="1252728"/>
            <a:ext cx="237744" cy="237744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3758184" y="960120"/>
            <a:ext cx="1417320" cy="822960"/>
          </a:xfrm>
          <a:prstGeom prst="rect">
            <a:avLst/>
          </a:prstGeom>
          <a:solidFill>
            <a:srgbClr val="00D4B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3758184" y="996696"/>
            <a:ext cx="141732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Generated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Shoe G(x)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3758184" y="1508760"/>
            <a:ext cx="14173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D8FF"/>
                </a:solidFill>
              </a:rPr>
              <a:t>256×256×3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5193792" y="1371600"/>
            <a:ext cx="310896" cy="0"/>
          </a:xfrm>
          <a:prstGeom prst="line">
            <a:avLst/>
          </a:prstGeom>
          <a:noFill/>
          <a:ln w="254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1808" y="1252728"/>
            <a:ext cx="237744" cy="237744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5522976" y="960120"/>
            <a:ext cx="1417320" cy="822960"/>
          </a:xfrm>
          <a:prstGeom prst="rect">
            <a:avLst/>
          </a:prstGeom>
          <a:solidFill>
            <a:srgbClr val="FF6B6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/>
          <p:nvPr/>
        </p:nvSpPr>
        <p:spPr>
          <a:xfrm>
            <a:off x="5522976" y="996696"/>
            <a:ext cx="141732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PatchGAN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Discriminator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5522976" y="1508760"/>
            <a:ext cx="14173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D8FF"/>
                </a:solidFill>
              </a:rPr>
              <a:t>C64→C512</a:t>
            </a:r>
            <a:endParaRPr lang="en-US" sz="800" dirty="0"/>
          </a:p>
        </p:txBody>
      </p:sp>
      <p:sp>
        <p:nvSpPr>
          <p:cNvPr id="24" name="Shape 19"/>
          <p:cNvSpPr/>
          <p:nvPr/>
        </p:nvSpPr>
        <p:spPr>
          <a:xfrm>
            <a:off x="6958584" y="1371600"/>
            <a:ext cx="310896" cy="0"/>
          </a:xfrm>
          <a:prstGeom prst="line">
            <a:avLst/>
          </a:prstGeom>
          <a:noFill/>
          <a:ln w="254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252728"/>
            <a:ext cx="237744" cy="237744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7287768" y="960120"/>
            <a:ext cx="1417320" cy="822960"/>
          </a:xfrm>
          <a:prstGeom prst="rect">
            <a:avLst/>
          </a:prstGeom>
          <a:solidFill>
            <a:srgbClr val="E07B39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1"/>
          <p:cNvSpPr/>
          <p:nvPr/>
        </p:nvSpPr>
        <p:spPr>
          <a:xfrm>
            <a:off x="7287768" y="996696"/>
            <a:ext cx="141732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Real / Fake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Decision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7287768" y="1508760"/>
            <a:ext cx="14173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D8FF"/>
                </a:solidFill>
              </a:rPr>
              <a:t>30×30 Output</a:t>
            </a:r>
            <a:endParaRPr lang="en-US" sz="800" dirty="0"/>
          </a:p>
        </p:txBody>
      </p:sp>
      <p:sp>
        <p:nvSpPr>
          <p:cNvPr id="29" name="Shape 23"/>
          <p:cNvSpPr/>
          <p:nvPr/>
        </p:nvSpPr>
        <p:spPr>
          <a:xfrm>
            <a:off x="228600" y="2011680"/>
            <a:ext cx="21031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4"/>
          <p:cNvSpPr/>
          <p:nvPr/>
        </p:nvSpPr>
        <p:spPr>
          <a:xfrm>
            <a:off x="228600" y="2011680"/>
            <a:ext cx="2103120" cy="64008"/>
          </a:xfrm>
          <a:prstGeom prst="rect">
            <a:avLst/>
          </a:prstGeom>
          <a:solidFill>
            <a:srgbClr val="4F8E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5"/>
          <p:cNvSpPr/>
          <p:nvPr/>
        </p:nvSpPr>
        <p:spPr>
          <a:xfrm>
            <a:off x="365760" y="2139696"/>
            <a:ext cx="384048" cy="384048"/>
          </a:xfrm>
          <a:prstGeom prst="ellipse">
            <a:avLst/>
          </a:prstGeom>
          <a:solidFill>
            <a:srgbClr val="4F8E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" y="2203704"/>
            <a:ext cx="256032" cy="256032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850392" y="216712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550"/>
                </a:solidFill>
              </a:rPr>
              <a:t>Conditional GAN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338328" y="2606040"/>
            <a:ext cx="18836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B7DA8"/>
                </a:solidFill>
              </a:rPr>
              <a:t>Generator G maps {x,z}→y conditioned on input x. Discriminator D evaluates (x,y) pair realism. Training via minimax adversarial game.</a:t>
            </a:r>
            <a:endParaRPr lang="en-US" sz="850" dirty="0"/>
          </a:p>
        </p:txBody>
      </p:sp>
      <p:sp>
        <p:nvSpPr>
          <p:cNvPr id="35" name="Shape 28"/>
          <p:cNvSpPr/>
          <p:nvPr/>
        </p:nvSpPr>
        <p:spPr>
          <a:xfrm>
            <a:off x="2423160" y="2011680"/>
            <a:ext cx="21031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29"/>
          <p:cNvSpPr/>
          <p:nvPr/>
        </p:nvSpPr>
        <p:spPr>
          <a:xfrm>
            <a:off x="2423160" y="2011680"/>
            <a:ext cx="2103120" cy="64008"/>
          </a:xfrm>
          <a:prstGeom prst="rect">
            <a:avLst/>
          </a:prstGeom>
          <a:solidFill>
            <a:srgbClr val="6B3F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0"/>
          <p:cNvSpPr/>
          <p:nvPr/>
        </p:nvSpPr>
        <p:spPr>
          <a:xfrm>
            <a:off x="2560320" y="2139696"/>
            <a:ext cx="384048" cy="384048"/>
          </a:xfrm>
          <a:prstGeom prst="ellipse">
            <a:avLst/>
          </a:prstGeom>
          <a:solidFill>
            <a:srgbClr val="6B3FA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4328" y="2203704"/>
            <a:ext cx="256032" cy="256032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3044952" y="216712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550"/>
                </a:solidFill>
              </a:rPr>
              <a:t>U-Net Generator</a:t>
            </a:r>
            <a:endParaRPr lang="en-US" sz="1100" dirty="0"/>
          </a:p>
        </p:txBody>
      </p:sp>
      <p:sp>
        <p:nvSpPr>
          <p:cNvPr id="40" name="Text 32"/>
          <p:cNvSpPr/>
          <p:nvPr/>
        </p:nvSpPr>
        <p:spPr>
          <a:xfrm>
            <a:off x="2532888" y="2606040"/>
            <a:ext cx="18836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B7DA8"/>
                </a:solidFill>
              </a:rPr>
              <a:t>Encoder-decoder with skip connections. 8 downsampling + 8 upsampling layers. Skip connections bypass bottleneck to preserve spatial details.</a:t>
            </a:r>
            <a:endParaRPr lang="en-US" sz="850" dirty="0"/>
          </a:p>
        </p:txBody>
      </p:sp>
      <p:sp>
        <p:nvSpPr>
          <p:cNvPr id="41" name="Shape 33"/>
          <p:cNvSpPr/>
          <p:nvPr/>
        </p:nvSpPr>
        <p:spPr>
          <a:xfrm>
            <a:off x="4617720" y="2011680"/>
            <a:ext cx="21031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34"/>
          <p:cNvSpPr/>
          <p:nvPr/>
        </p:nvSpPr>
        <p:spPr>
          <a:xfrm>
            <a:off x="4617720" y="2011680"/>
            <a:ext cx="2103120" cy="64008"/>
          </a:xfrm>
          <a:prstGeom prst="rect">
            <a:avLst/>
          </a:prstGeom>
          <a:solidFill>
            <a:srgbClr val="00D4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35"/>
          <p:cNvSpPr/>
          <p:nvPr/>
        </p:nvSpPr>
        <p:spPr>
          <a:xfrm>
            <a:off x="4754880" y="2139696"/>
            <a:ext cx="384048" cy="384048"/>
          </a:xfrm>
          <a:prstGeom prst="ellipse">
            <a:avLst/>
          </a:prstGeom>
          <a:solidFill>
            <a:srgbClr val="00D4B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8888" y="2203704"/>
            <a:ext cx="256032" cy="256032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5239512" y="216712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550"/>
                </a:solidFill>
              </a:rPr>
              <a:t>PatchGAN Discriminator</a:t>
            </a:r>
            <a:endParaRPr lang="en-US" sz="1100" dirty="0"/>
          </a:p>
        </p:txBody>
      </p:sp>
      <p:sp>
        <p:nvSpPr>
          <p:cNvPr id="46" name="Text 37"/>
          <p:cNvSpPr/>
          <p:nvPr/>
        </p:nvSpPr>
        <p:spPr>
          <a:xfrm>
            <a:off x="4727448" y="2606040"/>
            <a:ext cx="18836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B7DA8"/>
                </a:solidFill>
              </a:rPr>
              <a:t>Classifies 70×70 image patches independently. Produces 30×30 output matrix. Enforces local texture realism &amp; high-frequency sharpness.</a:t>
            </a:r>
            <a:endParaRPr lang="en-US" sz="850" dirty="0"/>
          </a:p>
        </p:txBody>
      </p:sp>
      <p:sp>
        <p:nvSpPr>
          <p:cNvPr id="47" name="Shape 38"/>
          <p:cNvSpPr/>
          <p:nvPr/>
        </p:nvSpPr>
        <p:spPr>
          <a:xfrm>
            <a:off x="6812280" y="2011680"/>
            <a:ext cx="21031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Shape 39"/>
          <p:cNvSpPr/>
          <p:nvPr/>
        </p:nvSpPr>
        <p:spPr>
          <a:xfrm>
            <a:off x="6812280" y="2011680"/>
            <a:ext cx="2103120" cy="64008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0"/>
          <p:cNvSpPr/>
          <p:nvPr/>
        </p:nvSpPr>
        <p:spPr>
          <a:xfrm>
            <a:off x="6949440" y="2139696"/>
            <a:ext cx="384048" cy="384048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0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13448" y="2203704"/>
            <a:ext cx="256032" cy="256032"/>
          </a:xfrm>
          <a:prstGeom prst="rect">
            <a:avLst/>
          </a:prstGeom>
        </p:spPr>
      </p:pic>
      <p:sp>
        <p:nvSpPr>
          <p:cNvPr id="51" name="Text 41"/>
          <p:cNvSpPr/>
          <p:nvPr/>
        </p:nvSpPr>
        <p:spPr>
          <a:xfrm>
            <a:off x="7434072" y="216712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550"/>
                </a:solidFill>
              </a:rPr>
              <a:t>Real-World Applications</a:t>
            </a:r>
            <a:endParaRPr lang="en-US" sz="1100" dirty="0"/>
          </a:p>
        </p:txBody>
      </p:sp>
      <p:sp>
        <p:nvSpPr>
          <p:cNvPr id="52" name="Text 42"/>
          <p:cNvSpPr/>
          <p:nvPr/>
        </p:nvSpPr>
        <p:spPr>
          <a:xfrm>
            <a:off x="6922008" y="2606040"/>
            <a:ext cx="18836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B7DA8"/>
                </a:solidFill>
              </a:rPr>
              <a:t>Sketch→Photo, Day→Night, Aerial→Maps, BW→Color, Medical imaging, Autonomous driving perception, Fashion design.</a:t>
            </a:r>
            <a:endParaRPr lang="en-US" sz="850" dirty="0"/>
          </a:p>
        </p:txBody>
      </p:sp>
      <p:sp>
        <p:nvSpPr>
          <p:cNvPr id="53" name="Shape 43"/>
          <p:cNvSpPr/>
          <p:nvPr/>
        </p:nvSpPr>
        <p:spPr>
          <a:xfrm>
            <a:off x="228600" y="3767328"/>
            <a:ext cx="8686800" cy="347472"/>
          </a:xfrm>
          <a:prstGeom prst="rect">
            <a:avLst/>
          </a:prstGeom>
          <a:solidFill>
            <a:srgbClr val="4F8E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44"/>
          <p:cNvSpPr/>
          <p:nvPr/>
        </p:nvSpPr>
        <p:spPr>
          <a:xfrm>
            <a:off x="228600" y="3767328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⚡  KEY INSIGHT: Same architecture, different data — Pix2Pix learns translation automatically without task-specific engineering.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74320" y="182880"/>
            <a:ext cx="411480" cy="411480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82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41248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Literature Review  (Part 1 of 2)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28600" y="804672"/>
            <a:ext cx="8686800" cy="365760"/>
          </a:xfrm>
          <a:prstGeom prst="rect">
            <a:avLst/>
          </a:prstGeom>
          <a:solidFill>
            <a:srgbClr val="4F8E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804672"/>
            <a:ext cx="22860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Author &amp; Year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14600" y="804672"/>
            <a:ext cx="32004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Methodology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715000" y="804672"/>
            <a:ext cx="34290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Key Findings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1170432"/>
            <a:ext cx="8686800" cy="9144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28600" y="1170432"/>
            <a:ext cx="50292" cy="914400"/>
          </a:xfrm>
          <a:prstGeom prst="rect">
            <a:avLst/>
          </a:prstGeom>
          <a:solidFill>
            <a:srgbClr val="4F8E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8328" y="1170432"/>
            <a:ext cx="2176272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Isola et al., 2017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(Pix2Pix)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514600" y="1170432"/>
            <a:ext cx="320040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FF"/>
                </a:solidFill>
              </a:rPr>
              <a:t>Conditional GAN with U-Net Generator + PatchGAN Discriminator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715000" y="1170432"/>
            <a:ext cx="342900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FF"/>
                </a:solidFill>
              </a:rPr>
              <a:t>Unified framework for image-to-image translation; demonstrated on 7 datasets. First practical paired cGAN system.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28600" y="2121408"/>
            <a:ext cx="8686800" cy="9144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28600" y="2121408"/>
            <a:ext cx="50292" cy="914400"/>
          </a:xfrm>
          <a:prstGeom prst="rect">
            <a:avLst/>
          </a:prstGeom>
          <a:solidFill>
            <a:srgbClr val="00D4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38328" y="2121408"/>
            <a:ext cx="2176272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Ronneberger et al., 2015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(U-Net)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514600" y="2121408"/>
            <a:ext cx="320040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FF"/>
                </a:solidFill>
              </a:rPr>
              <a:t>Encoder-decoder with symmetric skip connections for biomedical segmentation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715000" y="2121408"/>
            <a:ext cx="342900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FF"/>
                </a:solidFill>
              </a:rPr>
              <a:t>Skip connections preserve spatial info lost in bottleneck; enabled precise localization. Foundation of Pix2Pix generator.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28600" y="3072384"/>
            <a:ext cx="8686800" cy="9144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28600" y="3072384"/>
            <a:ext cx="50292" cy="914400"/>
          </a:xfrm>
          <a:prstGeom prst="rect">
            <a:avLst/>
          </a:prstGeom>
          <a:solidFill>
            <a:srgbClr val="4F8E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38328" y="3072384"/>
            <a:ext cx="2176272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Goodfellow et al., 2014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(GAN)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514600" y="3072384"/>
            <a:ext cx="320040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FF"/>
                </a:solidFill>
              </a:rPr>
              <a:t>Adversarial training: generator vs discriminator minimax game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715000" y="3072384"/>
            <a:ext cx="342900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FF"/>
                </a:solidFill>
              </a:rPr>
              <a:t>Adversarial loss generates sharper images than MSE/L1. Opened the generative modelling era.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28600" y="4023360"/>
            <a:ext cx="8686800" cy="9144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28600" y="4023360"/>
            <a:ext cx="50292" cy="914400"/>
          </a:xfrm>
          <a:prstGeom prst="rect">
            <a:avLst/>
          </a:prstGeom>
          <a:solidFill>
            <a:srgbClr val="00D4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38328" y="4023360"/>
            <a:ext cx="2176272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Radford et al., 2015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(DCGAN)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514600" y="4023360"/>
            <a:ext cx="320040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FF"/>
                </a:solidFill>
              </a:rPr>
              <a:t>Deep Convolutional GAN with batch norm &amp; LeakyReLU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715000" y="4023360"/>
            <a:ext cx="342900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FF"/>
                </a:solidFill>
              </a:rPr>
              <a:t>Stable training for image generation. Architectural principles adopted in Pix2Pix discriminator.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74320" y="182880"/>
            <a:ext cx="411480" cy="411480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82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41248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Literature Review  (Part 2 of 2)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28600" y="804672"/>
            <a:ext cx="8686800" cy="365760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804672"/>
            <a:ext cx="22860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Author &amp; Year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14600" y="804672"/>
            <a:ext cx="32004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Methodology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715000" y="804672"/>
            <a:ext cx="34290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Key Findings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1170432"/>
            <a:ext cx="8686800" cy="9144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28600" y="1170432"/>
            <a:ext cx="50292" cy="914400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8328" y="1170432"/>
            <a:ext cx="2176272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Zhu et al., 2017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(CycleGAN)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514600" y="1170432"/>
            <a:ext cx="320040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FF"/>
                </a:solidFill>
              </a:rPr>
              <a:t>Unpaired image translation via cycle-consistency loss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715000" y="1170432"/>
            <a:ext cx="342900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FF"/>
                </a:solidFill>
              </a:rPr>
              <a:t>Eliminated need for paired datasets. Enabled style transfer, horse↔zebra. Extended Pix2Pix to unsupervised setting.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28600" y="2121408"/>
            <a:ext cx="8686800" cy="9144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28600" y="2121408"/>
            <a:ext cx="50292" cy="914400"/>
          </a:xfrm>
          <a:prstGeom prst="rect">
            <a:avLst/>
          </a:prstGeom>
          <a:solidFill>
            <a:srgbClr val="E07B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38328" y="2121408"/>
            <a:ext cx="2176272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Wang et al., 2018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(Pix2PixHD)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514600" y="2121408"/>
            <a:ext cx="320040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FF"/>
                </a:solidFill>
              </a:rPr>
              <a:t>Multi-scale generators &amp; discriminators for high-res synthesis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715000" y="2121408"/>
            <a:ext cx="342900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FF"/>
                </a:solidFill>
              </a:rPr>
              <a:t>Achieved 2048×1024 photorealistic synthesis. Improved perceptual quality significantly over baseline Pix2Pix.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28600" y="3072384"/>
            <a:ext cx="8686800" cy="9144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28600" y="3072384"/>
            <a:ext cx="50292" cy="914400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38328" y="3072384"/>
            <a:ext cx="2176272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Yu &amp; Koltun, 2016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(Dilated Convolutions)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514600" y="3072384"/>
            <a:ext cx="320040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FF"/>
                </a:solidFill>
              </a:rPr>
              <a:t>Dilated convolutions for dense prediction without pooling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715000" y="3072384"/>
            <a:ext cx="342900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FF"/>
                </a:solidFill>
              </a:rPr>
              <a:t>Expanded receptive field without losing resolution. Influenced PatchGAN receptive field design.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28600" y="4023360"/>
            <a:ext cx="8686800" cy="9144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28600" y="4023360"/>
            <a:ext cx="50292" cy="914400"/>
          </a:xfrm>
          <a:prstGeom prst="rect">
            <a:avLst/>
          </a:prstGeom>
          <a:solidFill>
            <a:srgbClr val="E07B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38328" y="4023360"/>
            <a:ext cx="2176272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Johnson et al., 2016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(Perceptual Loss)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514600" y="4023360"/>
            <a:ext cx="320040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FF"/>
                </a:solidFill>
              </a:rPr>
              <a:t>Feature-level loss using pretrained VGG network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715000" y="4023360"/>
            <a:ext cx="342900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FF"/>
                </a:solidFill>
              </a:rPr>
              <a:t>Perceptual loss produces sharper, more natural images. Complements adversarial training objectives.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B3F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74320" y="182880"/>
            <a:ext cx="411480" cy="411480"/>
          </a:xfrm>
          <a:prstGeom prst="ellipse">
            <a:avLst/>
          </a:prstGeom>
          <a:solidFill>
            <a:srgbClr val="6B3F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82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41248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5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 Technologies &amp; Trends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28600" y="804672"/>
            <a:ext cx="28346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28600" y="804672"/>
            <a:ext cx="2834640" cy="73152"/>
          </a:xfrm>
          <a:prstGeom prst="rect">
            <a:avLst/>
          </a:prstGeom>
          <a:solidFill>
            <a:srgbClr val="6B3F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941832"/>
            <a:ext cx="457200" cy="457200"/>
          </a:xfrm>
          <a:prstGeom prst="ellipse">
            <a:avLst/>
          </a:prstGeom>
          <a:solidFill>
            <a:srgbClr val="6B3FA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014984"/>
            <a:ext cx="310896" cy="31089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41832" y="9601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550"/>
                </a:solidFill>
              </a:rPr>
              <a:t>Diffusion Models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1A2550"/>
                </a:solidFill>
              </a:rPr>
              <a:t>(DDPM / Stable Diffusion)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338328" y="1517904"/>
            <a:ext cx="26151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B7DA8"/>
                </a:solidFill>
              </a:rPr>
              <a:t>State-of-the-art image synthesis via iterative denoising. Surpasses GANs in diversity &amp; quality. Used in DALL·E 3, Midjourney, Stable Diffusion XL.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209544" y="804672"/>
            <a:ext cx="28346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209544" y="804672"/>
            <a:ext cx="2834640" cy="73152"/>
          </a:xfrm>
          <a:prstGeom prst="rect">
            <a:avLst/>
          </a:prstGeom>
          <a:solidFill>
            <a:srgbClr val="4F8E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3346704" y="941832"/>
            <a:ext cx="457200" cy="457200"/>
          </a:xfrm>
          <a:prstGeom prst="ellipse">
            <a:avLst/>
          </a:prstGeom>
          <a:solidFill>
            <a:srgbClr val="4F8E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9856" y="1014984"/>
            <a:ext cx="310896" cy="31089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922776" y="9601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550"/>
                </a:solidFill>
              </a:rPr>
              <a:t>ControlNet (2023)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3319272" y="1517904"/>
            <a:ext cx="26151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B7DA8"/>
                </a:solidFill>
              </a:rPr>
              <a:t>Adds conditioning controls to diffusion models using paired training. Directly extends Pix2Pix principles — sketch, depth, pose → photorealistic image.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6190488" y="804672"/>
            <a:ext cx="28346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6190488" y="804672"/>
            <a:ext cx="2834640" cy="73152"/>
          </a:xfrm>
          <a:prstGeom prst="rect">
            <a:avLst/>
          </a:prstGeom>
          <a:solidFill>
            <a:srgbClr val="00D4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6327648" y="941832"/>
            <a:ext cx="457200" cy="457200"/>
          </a:xfrm>
          <a:prstGeom prst="ellipse">
            <a:avLst/>
          </a:prstGeom>
          <a:solidFill>
            <a:srgbClr val="00D4B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1014984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903720" y="9601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550"/>
                </a:solidFill>
              </a:rPr>
              <a:t>Vision Transformers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1A2550"/>
                </a:solidFill>
              </a:rPr>
              <a:t>(ViT / Swin)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6300216" y="1517904"/>
            <a:ext cx="26151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B7DA8"/>
                </a:solidFill>
              </a:rPr>
              <a:t>Self-attention enables global context capture across the entire image — overcoming CNN locality limitations in image translation tasks.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228600" y="2670048"/>
            <a:ext cx="8686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550"/>
                </a:solidFill>
              </a:rPr>
              <a:t>Tools &amp; Frameworks</a:t>
            </a:r>
            <a:endParaRPr lang="en-US" sz="1400" dirty="0"/>
          </a:p>
        </p:txBody>
      </p:sp>
      <p:sp>
        <p:nvSpPr>
          <p:cNvPr id="25" name="Shape 20"/>
          <p:cNvSpPr/>
          <p:nvPr/>
        </p:nvSpPr>
        <p:spPr>
          <a:xfrm>
            <a:off x="228600" y="3090672"/>
            <a:ext cx="2011680" cy="384048"/>
          </a:xfrm>
          <a:prstGeom prst="rect">
            <a:avLst/>
          </a:prstGeom>
          <a:solidFill>
            <a:srgbClr val="4F8EF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1"/>
          <p:cNvSpPr/>
          <p:nvPr/>
        </p:nvSpPr>
        <p:spPr>
          <a:xfrm>
            <a:off x="228600" y="309067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PyTorch 2.x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2423160" y="3090672"/>
            <a:ext cx="2011680" cy="384048"/>
          </a:xfrm>
          <a:prstGeom prst="rect">
            <a:avLst/>
          </a:prstGeom>
          <a:solidFill>
            <a:srgbClr val="6B3FA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3"/>
          <p:cNvSpPr/>
          <p:nvPr/>
        </p:nvSpPr>
        <p:spPr>
          <a:xfrm>
            <a:off x="2423160" y="309067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Hugging Face Diffusers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4617720" y="3090672"/>
            <a:ext cx="2011680" cy="384048"/>
          </a:xfrm>
          <a:prstGeom prst="rect">
            <a:avLst/>
          </a:prstGeom>
          <a:solidFill>
            <a:srgbClr val="00D4B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5"/>
          <p:cNvSpPr/>
          <p:nvPr/>
        </p:nvSpPr>
        <p:spPr>
          <a:xfrm>
            <a:off x="4617720" y="309067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ControlNet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6812280" y="3090672"/>
            <a:ext cx="2011680" cy="384048"/>
          </a:xfrm>
          <a:prstGeom prst="rect">
            <a:avLst/>
          </a:prstGeom>
          <a:solidFill>
            <a:srgbClr val="FF6B6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27"/>
          <p:cNvSpPr/>
          <p:nvPr/>
        </p:nvSpPr>
        <p:spPr>
          <a:xfrm>
            <a:off x="6812280" y="309067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ONNX Runtime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228600" y="3621024"/>
            <a:ext cx="2011680" cy="384048"/>
          </a:xfrm>
          <a:prstGeom prst="rect">
            <a:avLst/>
          </a:prstGeom>
          <a:solidFill>
            <a:srgbClr val="4F8EF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29"/>
          <p:cNvSpPr/>
          <p:nvPr/>
        </p:nvSpPr>
        <p:spPr>
          <a:xfrm>
            <a:off x="228600" y="362102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TensorRT</a:t>
            </a:r>
            <a:endParaRPr lang="en-US" sz="1050" dirty="0"/>
          </a:p>
        </p:txBody>
      </p:sp>
      <p:sp>
        <p:nvSpPr>
          <p:cNvPr id="35" name="Shape 30"/>
          <p:cNvSpPr/>
          <p:nvPr/>
        </p:nvSpPr>
        <p:spPr>
          <a:xfrm>
            <a:off x="2423160" y="3621024"/>
            <a:ext cx="2011680" cy="384048"/>
          </a:xfrm>
          <a:prstGeom prst="rect">
            <a:avLst/>
          </a:prstGeom>
          <a:solidFill>
            <a:srgbClr val="E07B39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1"/>
          <p:cNvSpPr/>
          <p:nvPr/>
        </p:nvSpPr>
        <p:spPr>
          <a:xfrm>
            <a:off x="2423160" y="362102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Streamlit</a:t>
            </a:r>
            <a:endParaRPr lang="en-US" sz="1050" dirty="0"/>
          </a:p>
        </p:txBody>
      </p:sp>
      <p:sp>
        <p:nvSpPr>
          <p:cNvPr id="37" name="Shape 32"/>
          <p:cNvSpPr/>
          <p:nvPr/>
        </p:nvSpPr>
        <p:spPr>
          <a:xfrm>
            <a:off x="4617720" y="3621024"/>
            <a:ext cx="2011680" cy="384048"/>
          </a:xfrm>
          <a:prstGeom prst="rect">
            <a:avLst/>
          </a:prstGeom>
          <a:solidFill>
            <a:srgbClr val="00D4B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33"/>
          <p:cNvSpPr/>
          <p:nvPr/>
        </p:nvSpPr>
        <p:spPr>
          <a:xfrm>
            <a:off x="4617720" y="362102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Flask API</a:t>
            </a:r>
            <a:endParaRPr lang="en-US" sz="1050" dirty="0"/>
          </a:p>
        </p:txBody>
      </p:sp>
      <p:sp>
        <p:nvSpPr>
          <p:cNvPr id="39" name="Shape 34"/>
          <p:cNvSpPr/>
          <p:nvPr/>
        </p:nvSpPr>
        <p:spPr>
          <a:xfrm>
            <a:off x="6812280" y="3621024"/>
            <a:ext cx="2011680" cy="384048"/>
          </a:xfrm>
          <a:prstGeom prst="rect">
            <a:avLst/>
          </a:prstGeom>
          <a:solidFill>
            <a:srgbClr val="6B7DA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Text 35"/>
          <p:cNvSpPr/>
          <p:nvPr/>
        </p:nvSpPr>
        <p:spPr>
          <a:xfrm>
            <a:off x="6812280" y="362102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OpenCV</a:t>
            </a:r>
            <a:endParaRPr lang="en-US" sz="1050" dirty="0"/>
          </a:p>
        </p:txBody>
      </p:sp>
      <p:sp>
        <p:nvSpPr>
          <p:cNvPr id="41" name="Shape 36"/>
          <p:cNvSpPr/>
          <p:nvPr/>
        </p:nvSpPr>
        <p:spPr>
          <a:xfrm>
            <a:off x="228600" y="4224528"/>
            <a:ext cx="8686800" cy="347472"/>
          </a:xfrm>
          <a:prstGeom prst="rect">
            <a:avLst/>
          </a:prstGeom>
          <a:solidFill>
            <a:srgbClr val="6B3F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7"/>
          <p:cNvSpPr/>
          <p:nvPr/>
        </p:nvSpPr>
        <p:spPr>
          <a:xfrm>
            <a:off x="228600" y="4224528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🏭  Industry Usage: Adobe Firefly · NVIDIA Canvas · Midjourney · Runway ML · Canva AI · Meta Segment Anything · Google ImageFX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74320" y="182880"/>
            <a:ext cx="411480" cy="411480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82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41248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Gap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28600" y="77724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6B"/>
                </a:solidFill>
              </a:rPr>
              <a:t>Limitations in Existing Research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8600" y="1170432"/>
            <a:ext cx="2834640" cy="1325880"/>
          </a:xfrm>
          <a:prstGeom prst="rect">
            <a:avLst/>
          </a:prstGeom>
          <a:solidFill>
            <a:srgbClr val="1A2550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1243584"/>
            <a:ext cx="384048" cy="384048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1243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50392" y="1243584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Paired Data Dependency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" y="1682496"/>
            <a:ext cx="2633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8D8FF"/>
                </a:solidFill>
              </a:rPr>
              <a:t>Pix2Pix requires perfectly aligned input-output pairs — expensive &amp; impractical for many domains like unpaired style transfer or medical cross-modality.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9544" y="1170432"/>
            <a:ext cx="2834640" cy="1325880"/>
          </a:xfrm>
          <a:prstGeom prst="rect">
            <a:avLst/>
          </a:prstGeom>
          <a:solidFill>
            <a:srgbClr val="1A2550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346704" y="1243584"/>
            <a:ext cx="384048" cy="384048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46704" y="1243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31336" y="1243584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Resolution Constraints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346704" y="1682496"/>
            <a:ext cx="2633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8D8FF"/>
                </a:solidFill>
              </a:rPr>
              <a:t>Baseline Pix2Pix limited to 256×256. High-resolution synthesis (&gt;1024px) requires Pix2PixHD or progressive training — computationally prohibitive.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90488" y="1170432"/>
            <a:ext cx="2834640" cy="1325880"/>
          </a:xfrm>
          <a:prstGeom prst="rect">
            <a:avLst/>
          </a:prstGeom>
          <a:solidFill>
            <a:srgbClr val="1A2550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327648" y="1243584"/>
            <a:ext cx="384048" cy="384048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327648" y="1243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12280" y="1243584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Mode Collapse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327648" y="1682496"/>
            <a:ext cx="2633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8D8FF"/>
                </a:solidFill>
              </a:rPr>
              <a:t>GANs suffer from mode collapse: generator converges to limited outputs, reducing output diversity. L1 loss partially mitigates but doesn't fully solve this.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28600" y="2633472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B0"/>
                </a:solidFill>
              </a:rPr>
              <a:t>Unsolved Problems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28600" y="2999232"/>
            <a:ext cx="8686800" cy="530352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28600" y="2999232"/>
            <a:ext cx="45720" cy="530352"/>
          </a:xfrm>
          <a:prstGeom prst="rect">
            <a:avLst/>
          </a:prstGeom>
          <a:solidFill>
            <a:srgbClr val="00D4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84048" y="2999232"/>
            <a:ext cx="192024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B0"/>
                </a:solidFill>
              </a:rPr>
              <a:t>Training Instability: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331720" y="2999232"/>
            <a:ext cx="649224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FF"/>
                </a:solidFill>
              </a:rPr>
              <a:t>GAN training is notoriously unstable — vanishing gradients, oscillation, and sensitivity to hyperparameters remain open challenges.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28600" y="3566160"/>
            <a:ext cx="8686800" cy="530352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28600" y="3566160"/>
            <a:ext cx="45720" cy="530352"/>
          </a:xfrm>
          <a:prstGeom prst="rect">
            <a:avLst/>
          </a:prstGeom>
          <a:solidFill>
            <a:srgbClr val="00D4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84048" y="3566160"/>
            <a:ext cx="192024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B0"/>
                </a:solidFill>
              </a:rPr>
              <a:t>Semantic Consistency: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331720" y="3566160"/>
            <a:ext cx="649224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FF"/>
                </a:solidFill>
              </a:rPr>
              <a:t>Generated outputs may be photorealistic but semantically incorrect (e.g., wrong shoe type from a given sketch).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28600" y="4133088"/>
            <a:ext cx="8686800" cy="530352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228600" y="4133088"/>
            <a:ext cx="45720" cy="530352"/>
          </a:xfrm>
          <a:prstGeom prst="rect">
            <a:avLst/>
          </a:prstGeom>
          <a:solidFill>
            <a:srgbClr val="00D4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84048" y="4133088"/>
            <a:ext cx="192024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B0"/>
                </a:solidFill>
              </a:rPr>
              <a:t>Generalisation: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331720" y="4133088"/>
            <a:ext cx="649224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FF"/>
                </a:solidFill>
              </a:rPr>
              <a:t>Models trained on Edges2Shoes do not transfer to other edge-to-object domains without full retraining.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28600" y="4773168"/>
            <a:ext cx="8686800" cy="274320"/>
          </a:xfrm>
          <a:prstGeom prst="rect">
            <a:avLst/>
          </a:prstGeom>
          <a:solidFill>
            <a:srgbClr val="00D4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28600" y="47731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F2C"/>
                </a:solidFill>
              </a:rPr>
              <a:t>📌  Scope: Multi-domain generalisation, unpaired training, diffusion-based improvements, and perceptual loss integration.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74320" y="182880"/>
            <a:ext cx="411480" cy="411480"/>
          </a:xfrm>
          <a:prstGeom prst="ellipse">
            <a:avLst/>
          </a:prstGeom>
          <a:solidFill>
            <a:srgbClr val="00D4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82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F2C"/>
                </a:solidFill>
              </a:rPr>
              <a:t>09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41248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5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Advantages &amp; Disadvantages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28600" y="804672"/>
            <a:ext cx="41605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28600" y="804672"/>
            <a:ext cx="4160520" cy="438912"/>
          </a:xfrm>
          <a:prstGeom prst="rect">
            <a:avLst/>
          </a:prstGeom>
          <a:solidFill>
            <a:srgbClr val="00D4B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886968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" y="804672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ADVANTAGES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84048" y="1389888"/>
            <a:ext cx="201168" cy="201168"/>
          </a:xfrm>
          <a:prstGeom prst="ellipse">
            <a:avLst/>
          </a:prstGeom>
          <a:solidFill>
            <a:srgbClr val="00D4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84048" y="13898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67512" y="1335024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550"/>
                </a:solidFill>
              </a:rPr>
              <a:t>Unified Framework: 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627632" y="1335024"/>
            <a:ext cx="2633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DA8"/>
                </a:solidFill>
              </a:rPr>
              <a:t>One architecture handles diverse translation tasks — no task-specific engineering required.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84048" y="1938528"/>
            <a:ext cx="201168" cy="201168"/>
          </a:xfrm>
          <a:prstGeom prst="ellipse">
            <a:avLst/>
          </a:prstGeom>
          <a:solidFill>
            <a:srgbClr val="00D4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84048" y="19385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667512" y="1883664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550"/>
                </a:solidFill>
              </a:rPr>
              <a:t>End-to-End Learning: 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627632" y="1883664"/>
            <a:ext cx="2633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DA8"/>
                </a:solidFill>
              </a:rPr>
              <a:t>Learns both the mapping and the loss function directly from data, eliminating manual feature design.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84048" y="2487168"/>
            <a:ext cx="201168" cy="201168"/>
          </a:xfrm>
          <a:prstGeom prst="ellipse">
            <a:avLst/>
          </a:prstGeom>
          <a:solidFill>
            <a:srgbClr val="00D4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384048" y="24871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667512" y="2432304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550"/>
                </a:solidFill>
              </a:rPr>
              <a:t>Photorealistic Outputs: 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627632" y="2432304"/>
            <a:ext cx="2633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DA8"/>
                </a:solidFill>
              </a:rPr>
              <a:t>Adversarial training produces sharp, perceptually convincing images vs blurry MSE results.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384048" y="3035808"/>
            <a:ext cx="201168" cy="201168"/>
          </a:xfrm>
          <a:prstGeom prst="ellipse">
            <a:avLst/>
          </a:prstGeom>
          <a:solidFill>
            <a:srgbClr val="00D4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384048" y="30358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67512" y="2980944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550"/>
                </a:solidFill>
              </a:rPr>
              <a:t>Structural Fidelity: 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627632" y="2980944"/>
            <a:ext cx="2633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DA8"/>
                </a:solidFill>
              </a:rPr>
              <a:t>U-Net skip connections preserve spatial structure from input to output reliably.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384048" y="3584448"/>
            <a:ext cx="201168" cy="201168"/>
          </a:xfrm>
          <a:prstGeom prst="ellipse">
            <a:avLst/>
          </a:prstGeom>
          <a:solidFill>
            <a:srgbClr val="00D4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384048" y="35844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667512" y="3529584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550"/>
                </a:solidFill>
              </a:rPr>
              <a:t>Fast Inference: 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627632" y="3529584"/>
            <a:ext cx="2633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DA8"/>
                </a:solidFill>
              </a:rPr>
              <a:t>~500ms GPU inference enables real-time applications and interactive web tools.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384048" y="4133088"/>
            <a:ext cx="201168" cy="201168"/>
          </a:xfrm>
          <a:prstGeom prst="ellipse">
            <a:avLst/>
          </a:prstGeom>
          <a:solidFill>
            <a:srgbClr val="00D4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384048" y="41330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667512" y="4078224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550"/>
                </a:solidFill>
              </a:rPr>
              <a:t>Compact Paired Data: 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627632" y="4078224"/>
            <a:ext cx="2633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DA8"/>
                </a:solidFill>
              </a:rPr>
              <a:t>Effective even with moderate-sized datasets (Edges2Shoes: 50K pairs).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4754880" y="804672"/>
            <a:ext cx="41605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4754880" y="804672"/>
            <a:ext cx="4160520" cy="438912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886968"/>
            <a:ext cx="274320" cy="274320"/>
          </a:xfrm>
          <a:prstGeom prst="rect">
            <a:avLst/>
          </a:prstGeom>
        </p:spPr>
      </p:pic>
      <p:sp>
        <p:nvSpPr>
          <p:cNvPr id="37" name="Text 33"/>
          <p:cNvSpPr/>
          <p:nvPr/>
        </p:nvSpPr>
        <p:spPr>
          <a:xfrm>
            <a:off x="5285232" y="804672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DISADVANTAGES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919472" y="1389888"/>
            <a:ext cx="201168" cy="201168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5"/>
          <p:cNvSpPr/>
          <p:nvPr/>
        </p:nvSpPr>
        <p:spPr>
          <a:xfrm>
            <a:off x="4919472" y="13898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✗</a:t>
            </a:r>
            <a:endParaRPr lang="en-US" sz="800" dirty="0"/>
          </a:p>
        </p:txBody>
      </p:sp>
      <p:sp>
        <p:nvSpPr>
          <p:cNvPr id="40" name="Text 36"/>
          <p:cNvSpPr/>
          <p:nvPr/>
        </p:nvSpPr>
        <p:spPr>
          <a:xfrm>
            <a:off x="5193792" y="1335024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550"/>
                </a:solidFill>
              </a:rPr>
              <a:t>Paired Data Required: </a:t>
            </a:r>
            <a:endParaRPr lang="en-US" sz="900" dirty="0"/>
          </a:p>
        </p:txBody>
      </p:sp>
      <p:sp>
        <p:nvSpPr>
          <p:cNvPr id="41" name="Text 37"/>
          <p:cNvSpPr/>
          <p:nvPr/>
        </p:nvSpPr>
        <p:spPr>
          <a:xfrm>
            <a:off x="6199632" y="1335024"/>
            <a:ext cx="2578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DA8"/>
                </a:solidFill>
              </a:rPr>
              <a:t>Collecting thousands of perfectly aligned input-output pairs is expensive and time-consuming.</a:t>
            </a:r>
            <a:endParaRPr lang="en-US" sz="900" dirty="0"/>
          </a:p>
        </p:txBody>
      </p:sp>
      <p:sp>
        <p:nvSpPr>
          <p:cNvPr id="42" name="Shape 38"/>
          <p:cNvSpPr/>
          <p:nvPr/>
        </p:nvSpPr>
        <p:spPr>
          <a:xfrm>
            <a:off x="4919472" y="1938528"/>
            <a:ext cx="201168" cy="201168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39"/>
          <p:cNvSpPr/>
          <p:nvPr/>
        </p:nvSpPr>
        <p:spPr>
          <a:xfrm>
            <a:off x="4919472" y="19385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✗</a:t>
            </a:r>
            <a:endParaRPr lang="en-US" sz="800" dirty="0"/>
          </a:p>
        </p:txBody>
      </p:sp>
      <p:sp>
        <p:nvSpPr>
          <p:cNvPr id="44" name="Text 40"/>
          <p:cNvSpPr/>
          <p:nvPr/>
        </p:nvSpPr>
        <p:spPr>
          <a:xfrm>
            <a:off x="5193792" y="1883664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550"/>
                </a:solidFill>
              </a:rPr>
              <a:t>Training Instability: </a:t>
            </a:r>
            <a:endParaRPr lang="en-US" sz="900" dirty="0"/>
          </a:p>
        </p:txBody>
      </p:sp>
      <p:sp>
        <p:nvSpPr>
          <p:cNvPr id="45" name="Text 41"/>
          <p:cNvSpPr/>
          <p:nvPr/>
        </p:nvSpPr>
        <p:spPr>
          <a:xfrm>
            <a:off x="6199632" y="1883664"/>
            <a:ext cx="2578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DA8"/>
                </a:solidFill>
              </a:rPr>
              <a:t>GAN training prone to mode collapse, vanishing gradients, and hyperparameter sensitivity.</a:t>
            </a:r>
            <a:endParaRPr lang="en-US" sz="900" dirty="0"/>
          </a:p>
        </p:txBody>
      </p:sp>
      <p:sp>
        <p:nvSpPr>
          <p:cNvPr id="46" name="Shape 42"/>
          <p:cNvSpPr/>
          <p:nvPr/>
        </p:nvSpPr>
        <p:spPr>
          <a:xfrm>
            <a:off x="4919472" y="2487168"/>
            <a:ext cx="201168" cy="201168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3"/>
          <p:cNvSpPr/>
          <p:nvPr/>
        </p:nvSpPr>
        <p:spPr>
          <a:xfrm>
            <a:off x="4919472" y="24871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✗</a:t>
            </a:r>
            <a:endParaRPr lang="en-US" sz="800" dirty="0"/>
          </a:p>
        </p:txBody>
      </p:sp>
      <p:sp>
        <p:nvSpPr>
          <p:cNvPr id="48" name="Text 44"/>
          <p:cNvSpPr/>
          <p:nvPr/>
        </p:nvSpPr>
        <p:spPr>
          <a:xfrm>
            <a:off x="5193792" y="2432304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550"/>
                </a:solidFill>
              </a:rPr>
              <a:t>Resolution Limits: </a:t>
            </a:r>
            <a:endParaRPr lang="en-US" sz="900" dirty="0"/>
          </a:p>
        </p:txBody>
      </p:sp>
      <p:sp>
        <p:nvSpPr>
          <p:cNvPr id="49" name="Text 45"/>
          <p:cNvSpPr/>
          <p:nvPr/>
        </p:nvSpPr>
        <p:spPr>
          <a:xfrm>
            <a:off x="6199632" y="2432304"/>
            <a:ext cx="2578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DA8"/>
                </a:solidFill>
              </a:rPr>
              <a:t>Base model limited to 256×256; high-resolution needs Pix2PixHD with much more compute.</a:t>
            </a:r>
            <a:endParaRPr lang="en-US" sz="900" dirty="0"/>
          </a:p>
        </p:txBody>
      </p:sp>
      <p:sp>
        <p:nvSpPr>
          <p:cNvPr id="50" name="Shape 46"/>
          <p:cNvSpPr/>
          <p:nvPr/>
        </p:nvSpPr>
        <p:spPr>
          <a:xfrm>
            <a:off x="4919472" y="3035808"/>
            <a:ext cx="201168" cy="201168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7"/>
          <p:cNvSpPr/>
          <p:nvPr/>
        </p:nvSpPr>
        <p:spPr>
          <a:xfrm>
            <a:off x="4919472" y="30358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✗</a:t>
            </a:r>
            <a:endParaRPr lang="en-US" sz="800" dirty="0"/>
          </a:p>
        </p:txBody>
      </p:sp>
      <p:sp>
        <p:nvSpPr>
          <p:cNvPr id="52" name="Text 48"/>
          <p:cNvSpPr/>
          <p:nvPr/>
        </p:nvSpPr>
        <p:spPr>
          <a:xfrm>
            <a:off x="5193792" y="2980944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550"/>
                </a:solidFill>
              </a:rPr>
              <a:t>No Diversity Control: </a:t>
            </a:r>
            <a:endParaRPr lang="en-US" sz="900" dirty="0"/>
          </a:p>
        </p:txBody>
      </p:sp>
      <p:sp>
        <p:nvSpPr>
          <p:cNvPr id="53" name="Text 49"/>
          <p:cNvSpPr/>
          <p:nvPr/>
        </p:nvSpPr>
        <p:spPr>
          <a:xfrm>
            <a:off x="6199632" y="2980944"/>
            <a:ext cx="2578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DA8"/>
                </a:solidFill>
              </a:rPr>
              <a:t>Deterministic output (noise z ignored in practice) — no control over output variation.</a:t>
            </a:r>
            <a:endParaRPr lang="en-US" sz="900" dirty="0"/>
          </a:p>
        </p:txBody>
      </p:sp>
      <p:sp>
        <p:nvSpPr>
          <p:cNvPr id="54" name="Shape 50"/>
          <p:cNvSpPr/>
          <p:nvPr/>
        </p:nvSpPr>
        <p:spPr>
          <a:xfrm>
            <a:off x="4919472" y="3584448"/>
            <a:ext cx="201168" cy="201168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1"/>
          <p:cNvSpPr/>
          <p:nvPr/>
        </p:nvSpPr>
        <p:spPr>
          <a:xfrm>
            <a:off x="4919472" y="35844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✗</a:t>
            </a:r>
            <a:endParaRPr lang="en-US" sz="800" dirty="0"/>
          </a:p>
        </p:txBody>
      </p:sp>
      <p:sp>
        <p:nvSpPr>
          <p:cNvPr id="56" name="Text 52"/>
          <p:cNvSpPr/>
          <p:nvPr/>
        </p:nvSpPr>
        <p:spPr>
          <a:xfrm>
            <a:off x="5193792" y="3529584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550"/>
                </a:solidFill>
              </a:rPr>
              <a:t>Domain-Specific: </a:t>
            </a:r>
            <a:endParaRPr lang="en-US" sz="900" dirty="0"/>
          </a:p>
        </p:txBody>
      </p:sp>
      <p:sp>
        <p:nvSpPr>
          <p:cNvPr id="57" name="Text 53"/>
          <p:cNvSpPr/>
          <p:nvPr/>
        </p:nvSpPr>
        <p:spPr>
          <a:xfrm>
            <a:off x="6199632" y="3529584"/>
            <a:ext cx="2578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DA8"/>
                </a:solidFill>
              </a:rPr>
              <a:t>Trained model doesn't generalise across domains without full retraining from scratch.</a:t>
            </a:r>
            <a:endParaRPr lang="en-US" sz="900" dirty="0"/>
          </a:p>
        </p:txBody>
      </p:sp>
      <p:sp>
        <p:nvSpPr>
          <p:cNvPr id="58" name="Shape 54"/>
          <p:cNvSpPr/>
          <p:nvPr/>
        </p:nvSpPr>
        <p:spPr>
          <a:xfrm>
            <a:off x="4919472" y="4133088"/>
            <a:ext cx="201168" cy="201168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5"/>
          <p:cNvSpPr/>
          <p:nvPr/>
        </p:nvSpPr>
        <p:spPr>
          <a:xfrm>
            <a:off x="4919472" y="41330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✗</a:t>
            </a:r>
            <a:endParaRPr lang="en-US" sz="800" dirty="0"/>
          </a:p>
        </p:txBody>
      </p:sp>
      <p:sp>
        <p:nvSpPr>
          <p:cNvPr id="60" name="Text 56"/>
          <p:cNvSpPr/>
          <p:nvPr/>
        </p:nvSpPr>
        <p:spPr>
          <a:xfrm>
            <a:off x="5193792" y="4078224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550"/>
                </a:solidFill>
              </a:rPr>
              <a:t>Compute Intensive: </a:t>
            </a:r>
            <a:endParaRPr lang="en-US" sz="900" dirty="0"/>
          </a:p>
        </p:txBody>
      </p:sp>
      <p:sp>
        <p:nvSpPr>
          <p:cNvPr id="61" name="Text 57"/>
          <p:cNvSpPr/>
          <p:nvPr/>
        </p:nvSpPr>
        <p:spPr>
          <a:xfrm>
            <a:off x="6199632" y="4078224"/>
            <a:ext cx="2578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DA8"/>
                </a:solidFill>
              </a:rPr>
              <a:t>200 epoch training on NVIDIA V100 with batch size 1 requires significant GPU time.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8E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74320" y="182880"/>
            <a:ext cx="411480" cy="411480"/>
          </a:xfrm>
          <a:prstGeom prst="ellipse">
            <a:avLst/>
          </a:prstGeom>
          <a:solidFill>
            <a:srgbClr val="4F8E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82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★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41248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Results — Streamlit Demo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28600" y="804672"/>
            <a:ext cx="5669280" cy="3931920"/>
          </a:xfrm>
          <a:prstGeom prst="rect">
            <a:avLst/>
          </a:prstGeom>
          <a:solidFill>
            <a:srgbClr val="0A0F2C"/>
          </a:solidFill>
          <a:ln w="254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841248"/>
            <a:ext cx="5577840" cy="38404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080760" y="804672"/>
            <a:ext cx="2834640" cy="3931920"/>
          </a:xfrm>
          <a:prstGeom prst="rect">
            <a:avLst/>
          </a:prstGeom>
          <a:solidFill>
            <a:srgbClr val="0D1B4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172200" y="9144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8EF7"/>
                </a:solidFill>
              </a:rPr>
              <a:t>Performance Metrics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172200" y="1389888"/>
            <a:ext cx="2651760" cy="749808"/>
          </a:xfrm>
          <a:prstGeom prst="rect">
            <a:avLst/>
          </a:prstGeom>
          <a:solidFill>
            <a:srgbClr val="0D1B4B"/>
          </a:solidFill>
          <a:ln w="12700">
            <a:solidFill>
              <a:srgbClr val="00D4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263640" y="14447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D8FF"/>
                </a:solidFill>
              </a:rPr>
              <a:t>PSNR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263640" y="17373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D4B0"/>
                </a:solidFill>
              </a:rPr>
              <a:t>22.8 dB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263640" y="197510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DA8"/>
                </a:solidFill>
              </a:rPr>
              <a:t>Higher is better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6172200" y="2231136"/>
            <a:ext cx="2651760" cy="749808"/>
          </a:xfrm>
          <a:prstGeom prst="rect">
            <a:avLst/>
          </a:prstGeom>
          <a:solidFill>
            <a:srgbClr val="0D1B4B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263640" y="2286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D8FF"/>
                </a:solidFill>
              </a:rPr>
              <a:t>SSIM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263640" y="257860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F8EF7"/>
                </a:solidFill>
              </a:rPr>
              <a:t>0.85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263640" y="281635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DA8"/>
                </a:solidFill>
              </a:rPr>
              <a:t>Range [0,1]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6172200" y="3072384"/>
            <a:ext cx="2651760" cy="749808"/>
          </a:xfrm>
          <a:prstGeom prst="rect">
            <a:avLst/>
          </a:prstGeom>
          <a:solidFill>
            <a:srgbClr val="0D1B4B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263640" y="3127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D8FF"/>
                </a:solidFill>
              </a:rPr>
              <a:t>L1 Distance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263640" y="341985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D700"/>
                </a:solidFill>
              </a:rPr>
              <a:t>0.12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6263640" y="365760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DA8"/>
                </a:solidFill>
              </a:rPr>
              <a:t>Lower is better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6172200" y="393192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6B6B"/>
                </a:solidFill>
              </a:rPr>
              <a:t>vs. Encoder-Decoder Baseline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6172200" y="4206240"/>
            <a:ext cx="841248" cy="438912"/>
          </a:xfrm>
          <a:prstGeom prst="rect">
            <a:avLst/>
          </a:prstGeom>
          <a:solidFill>
            <a:srgbClr val="00D4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172200" y="4206240"/>
            <a:ext cx="841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0F2C"/>
                </a:solidFill>
              </a:rPr>
              <a:t>+25% PSNR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7059168" y="4206240"/>
            <a:ext cx="841248" cy="438912"/>
          </a:xfrm>
          <a:prstGeom prst="rect">
            <a:avLst/>
          </a:prstGeom>
          <a:solidFill>
            <a:srgbClr val="00D4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7059168" y="4206240"/>
            <a:ext cx="841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0F2C"/>
                </a:solidFill>
              </a:rPr>
              <a:t>+18% SSIM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7946136" y="4206240"/>
            <a:ext cx="841248" cy="438912"/>
          </a:xfrm>
          <a:prstGeom prst="rect">
            <a:avLst/>
          </a:prstGeom>
          <a:solidFill>
            <a:srgbClr val="00D4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7946136" y="4206240"/>
            <a:ext cx="841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0F2C"/>
                </a:solidFill>
              </a:rPr>
              <a:t>+40% Sharpness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74320" y="182880"/>
            <a:ext cx="411480" cy="411480"/>
          </a:xfrm>
          <a:prstGeom prst="ellipse">
            <a:avLst/>
          </a:prstGeom>
          <a:solidFill>
            <a:srgbClr val="00D4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82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F2C"/>
                </a:solidFill>
              </a:rPr>
              <a:t>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41248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5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 &amp; Future Scope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28600" y="786384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550"/>
                </a:solidFill>
              </a:rPr>
              <a:t>Summary of Key Findings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8600" y="1170432"/>
            <a:ext cx="59436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28600" y="1170432"/>
            <a:ext cx="45720" cy="420624"/>
          </a:xfrm>
          <a:prstGeom prst="rect">
            <a:avLst/>
          </a:prstGeom>
          <a:solidFill>
            <a:srgbClr val="00D4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84048" y="1170432"/>
            <a:ext cx="5687568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550"/>
                </a:solidFill>
              </a:rPr>
              <a:t>Pix2Pix with U-Net + PatchGAN successfully translates edge sketches to photorealistic shoes, achieving PSNR of 22.8 dB and SSIM of 0.85.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28600" y="1645920"/>
            <a:ext cx="59436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28600" y="1645920"/>
            <a:ext cx="45720" cy="420624"/>
          </a:xfrm>
          <a:prstGeom prst="rect">
            <a:avLst/>
          </a:prstGeom>
          <a:solidFill>
            <a:srgbClr val="00D4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84048" y="1645920"/>
            <a:ext cx="5687568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550"/>
                </a:solidFill>
              </a:rPr>
              <a:t>Skip connections are critical: removing them degraded PSNR by 4.6 dB (−20%) — empirically validating the U-Net design for spatial preservation.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28600" y="2121408"/>
            <a:ext cx="59436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28600" y="2121408"/>
            <a:ext cx="45720" cy="420624"/>
          </a:xfrm>
          <a:prstGeom prst="rect">
            <a:avLst/>
          </a:prstGeom>
          <a:solidFill>
            <a:srgbClr val="00D4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84048" y="2121408"/>
            <a:ext cx="5687568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550"/>
                </a:solidFill>
              </a:rPr>
              <a:t>PatchGAN's local patch classification enforces fine-grained texture realism that global discriminators cannot achieve.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28600" y="2596896"/>
            <a:ext cx="59436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28600" y="2596896"/>
            <a:ext cx="45720" cy="420624"/>
          </a:xfrm>
          <a:prstGeom prst="rect">
            <a:avLst/>
          </a:prstGeom>
          <a:solidFill>
            <a:srgbClr val="00D4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84048" y="2596896"/>
            <a:ext cx="5687568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550"/>
                </a:solidFill>
              </a:rPr>
              <a:t>Combined adversarial + L1 loss (λ=100) produces optimal sharpness and structural fidelity, outperforming either loss alone by 40%.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400800" y="804672"/>
            <a:ext cx="2514600" cy="4096512"/>
          </a:xfrm>
          <a:prstGeom prst="rect">
            <a:avLst/>
          </a:prstGeom>
          <a:solidFill>
            <a:srgbClr val="1A255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914400"/>
            <a:ext cx="347472" cy="347472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6967728" y="9144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B0"/>
                </a:solidFill>
              </a:rPr>
              <a:t>Future Scope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510528" y="1389888"/>
            <a:ext cx="54864" cy="347472"/>
          </a:xfrm>
          <a:prstGeom prst="rect">
            <a:avLst/>
          </a:prstGeom>
          <a:solidFill>
            <a:srgbClr val="4F8E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601968" y="1389888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F8EF7"/>
                </a:solidFill>
              </a:rPr>
              <a:t>CycleGAN: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7406640" y="138988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D8FF"/>
                </a:solidFill>
              </a:rPr>
              <a:t>Unpaired translation — no aligned dataset needed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6510528" y="1847088"/>
            <a:ext cx="54864" cy="347472"/>
          </a:xfrm>
          <a:prstGeom prst="rect">
            <a:avLst/>
          </a:prstGeom>
          <a:solidFill>
            <a:srgbClr val="00D4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6601968" y="1847088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B0"/>
                </a:solidFill>
              </a:rPr>
              <a:t>Diffusion: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7406640" y="184708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D8FF"/>
                </a:solidFill>
              </a:rPr>
              <a:t>State-of-the-art quality via iterative denoising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6510528" y="2304288"/>
            <a:ext cx="54864" cy="347472"/>
          </a:xfrm>
          <a:prstGeom prst="rect">
            <a:avLst/>
          </a:prstGeom>
          <a:solidFill>
            <a:srgbClr val="4F8E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6601968" y="2304288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F8EF7"/>
                </a:solidFill>
              </a:rPr>
              <a:t>ControlNet: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7406640" y="230428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D8FF"/>
                </a:solidFill>
              </a:rPr>
              <a:t>Conditioned diffusion for sketch-guided synthesis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6510528" y="2761488"/>
            <a:ext cx="54864" cy="347472"/>
          </a:xfrm>
          <a:prstGeom prst="rect">
            <a:avLst/>
          </a:prstGeom>
          <a:solidFill>
            <a:srgbClr val="00D4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6601968" y="2761488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B0"/>
                </a:solidFill>
              </a:rPr>
              <a:t>Attention: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7406640" y="276148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D8FF"/>
                </a:solidFill>
              </a:rPr>
              <a:t>Self-attention for global coherence in translation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6510528" y="3218688"/>
            <a:ext cx="54864" cy="347472"/>
          </a:xfrm>
          <a:prstGeom prst="rect">
            <a:avLst/>
          </a:prstGeom>
          <a:solidFill>
            <a:srgbClr val="4F8E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6601968" y="3218688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F8EF7"/>
                </a:solidFill>
              </a:rPr>
              <a:t>StyleGAN: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7406640" y="321868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D8FF"/>
                </a:solidFill>
              </a:rPr>
              <a:t>Disentangled style for diverse output control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6510528" y="3675888"/>
            <a:ext cx="54864" cy="347472"/>
          </a:xfrm>
          <a:prstGeom prst="rect">
            <a:avLst/>
          </a:prstGeom>
          <a:solidFill>
            <a:srgbClr val="00D4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6601968" y="3675888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B0"/>
                </a:solidFill>
              </a:rPr>
              <a:t>Multi-scale: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7406640" y="367588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D8FF"/>
                </a:solidFill>
              </a:rPr>
              <a:t>High-resolution synthesis via progressive training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228600" y="3090672"/>
            <a:ext cx="5943600" cy="640080"/>
          </a:xfrm>
          <a:prstGeom prst="rect">
            <a:avLst/>
          </a:prstGeom>
          <a:solidFill>
            <a:srgbClr val="4F8EF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320040" y="3127248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0EAFF"/>
                </a:solidFill>
              </a:rPr>
              <a:t>OVERALL IMPACT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320040" y="3346704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A complete pipeline from GAN theory to real-time deployment, demonstrating the viability of conditional image-to-image translation.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8E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74320" y="182880"/>
            <a:ext cx="411480" cy="411480"/>
          </a:xfrm>
          <a:prstGeom prst="ellipse">
            <a:avLst/>
          </a:prstGeom>
          <a:solidFill>
            <a:srgbClr val="4F8E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82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41248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28600" y="804672"/>
            <a:ext cx="8686800" cy="411480"/>
          </a:xfrm>
          <a:prstGeom prst="rect">
            <a:avLst/>
          </a:prstGeom>
          <a:solidFill>
            <a:srgbClr val="0D1B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804672"/>
            <a:ext cx="850392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8FF"/>
                </a:solidFill>
              </a:rPr>
              <a:t>[1] Isola, P., Zhu, J. Y., Zhou, T., &amp; Efros, A. A. (2017). Image-to-image translation with conditional adversarial networks. In CVPR (pp. 1125–1134). IEEE.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28600" y="1229868"/>
            <a:ext cx="8686800" cy="411480"/>
          </a:xfrm>
          <a:prstGeom prst="rect">
            <a:avLst/>
          </a:prstGeom>
          <a:solidFill>
            <a:srgbClr val="0A0F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1229868"/>
            <a:ext cx="850392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8FF"/>
                </a:solidFill>
              </a:rPr>
              <a:t>[2] Goodfellow, I., Pouget-Abadie, J., Mirza, M., et al. (2014). Generative adversarial nets. Advances in Neural Information Processing Systems (NeurIPS), 27.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28600" y="1655064"/>
            <a:ext cx="8686800" cy="411480"/>
          </a:xfrm>
          <a:prstGeom prst="rect">
            <a:avLst/>
          </a:prstGeom>
          <a:solidFill>
            <a:srgbClr val="0D1B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" y="1655064"/>
            <a:ext cx="850392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8FF"/>
                </a:solidFill>
              </a:rPr>
              <a:t>[3] Ronneberger, O., Fischer, P., &amp; Brox, T. (2015). U-Net: Convolutional networks for biomedical image segmentation. In MICCAI (pp. 234–241). Springer.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28600" y="2080260"/>
            <a:ext cx="8686800" cy="411480"/>
          </a:xfrm>
          <a:prstGeom prst="rect">
            <a:avLst/>
          </a:prstGeom>
          <a:solidFill>
            <a:srgbClr val="0A0F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" y="2080260"/>
            <a:ext cx="850392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8FF"/>
                </a:solidFill>
              </a:rPr>
              <a:t>[4] Zhu, J. Y., Park, T., Isola, P., &amp; Efros, A. A. (2017). Unpaired image-to-image translation using cycle-consistent adversarial networks. In ICCV. IEEE.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28600" y="2505456"/>
            <a:ext cx="8686800" cy="411480"/>
          </a:xfrm>
          <a:prstGeom prst="rect">
            <a:avLst/>
          </a:prstGeom>
          <a:solidFill>
            <a:srgbClr val="0D1B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0040" y="2505456"/>
            <a:ext cx="850392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8FF"/>
                </a:solidFill>
              </a:rPr>
              <a:t>[5] Wang, T. C., Liu, M. Y., Zhu, J. Y., et al. (2018). High-resolution image synthesis and semantic manipulation with conditional GANs. In CVPR. IEEE.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28600" y="2930652"/>
            <a:ext cx="8686800" cy="411480"/>
          </a:xfrm>
          <a:prstGeom prst="rect">
            <a:avLst/>
          </a:prstGeom>
          <a:solidFill>
            <a:srgbClr val="0A0F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0040" y="2930652"/>
            <a:ext cx="850392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8FF"/>
                </a:solidFill>
              </a:rPr>
              <a:t>[6] Radford, A., Metz, L., &amp; Chintala, S. (2015). Unsupervised representation learning with deep convolutional generative adversarial networks. arXiv:1511.06434.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28600" y="3355848"/>
            <a:ext cx="8686800" cy="411480"/>
          </a:xfrm>
          <a:prstGeom prst="rect">
            <a:avLst/>
          </a:prstGeom>
          <a:solidFill>
            <a:srgbClr val="0D1B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0040" y="3355848"/>
            <a:ext cx="850392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8FF"/>
                </a:solidFill>
              </a:rPr>
              <a:t>[7] Johnson, J., Alahi, A., &amp; Fei-Fei, L. (2016). Perceptual losses for real-time style transfer and super-resolution. In ECCV (pp. 694–711). Springer.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28600" y="3781044"/>
            <a:ext cx="8686800" cy="411480"/>
          </a:xfrm>
          <a:prstGeom prst="rect">
            <a:avLst/>
          </a:prstGeom>
          <a:solidFill>
            <a:srgbClr val="0A0F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0040" y="3781044"/>
            <a:ext cx="850392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8FF"/>
                </a:solidFill>
              </a:rPr>
              <a:t>[8] Yu, F., &amp; Koltun, V. (2016). Multi-scale context aggregation by dilated convolutions. In ICLR.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28600" y="4206240"/>
            <a:ext cx="8686800" cy="411480"/>
          </a:xfrm>
          <a:prstGeom prst="rect">
            <a:avLst/>
          </a:prstGeom>
          <a:solidFill>
            <a:srgbClr val="0D1B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20040" y="4206240"/>
            <a:ext cx="850392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8FF"/>
                </a:solidFill>
              </a:rPr>
              <a:t>[9] Ho, J., Jain, A., &amp; Abbeel, P. (2020). Denoising diffusion probabilistic models. NeurIPS, 33, 6840–6851.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28600" y="4631436"/>
            <a:ext cx="8686800" cy="411480"/>
          </a:xfrm>
          <a:prstGeom prst="rect">
            <a:avLst/>
          </a:prstGeom>
          <a:solidFill>
            <a:srgbClr val="0A0F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0040" y="4631436"/>
            <a:ext cx="850392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8FF"/>
                </a:solidFill>
              </a:rPr>
              <a:t>[10] Zhang, L., Rao, A., &amp; Agrawala, M. (2023). Adding conditional control to text-to-image diffusion models (ControlNet). In ICCV. IEEE.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F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8E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0" y="1371600"/>
            <a:ext cx="9144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6" name="Shape 4"/>
          <p:cNvSpPr/>
          <p:nvPr/>
        </p:nvSpPr>
        <p:spPr>
          <a:xfrm>
            <a:off x="3200400" y="2788920"/>
            <a:ext cx="2743200" cy="45720"/>
          </a:xfrm>
          <a:prstGeom prst="rect">
            <a:avLst/>
          </a:prstGeom>
          <a:solidFill>
            <a:srgbClr val="00D4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0" y="294436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8D8FF"/>
                </a:solidFill>
              </a:rPr>
              <a:t>Questions &amp; Discussion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8288" y="3703320"/>
            <a:ext cx="1207008" cy="329184"/>
          </a:xfrm>
          <a:prstGeom prst="rect">
            <a:avLst/>
          </a:prstGeom>
          <a:solidFill>
            <a:srgbClr val="4F8EF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8288" y="3703320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Pix2Pix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335024" y="3703320"/>
            <a:ext cx="1207008" cy="329184"/>
          </a:xfrm>
          <a:prstGeom prst="rect">
            <a:avLst/>
          </a:prstGeom>
          <a:solidFill>
            <a:srgbClr val="6B3FA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335024" y="3703320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cGAN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651760" y="3703320"/>
            <a:ext cx="1207008" cy="329184"/>
          </a:xfrm>
          <a:prstGeom prst="rect">
            <a:avLst/>
          </a:prstGeom>
          <a:solidFill>
            <a:srgbClr val="00D4B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651760" y="3703320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U-Net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968496" y="3703320"/>
            <a:ext cx="1207008" cy="329184"/>
          </a:xfrm>
          <a:prstGeom prst="rect">
            <a:avLst/>
          </a:prstGeom>
          <a:solidFill>
            <a:srgbClr val="FF6B6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968496" y="3703320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PatchGAN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285232" y="3703320"/>
            <a:ext cx="1207008" cy="329184"/>
          </a:xfrm>
          <a:prstGeom prst="rect">
            <a:avLst/>
          </a:prstGeom>
          <a:solidFill>
            <a:srgbClr val="4F8EF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285232" y="3703320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Image Translation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601968" y="3703320"/>
            <a:ext cx="1207008" cy="329184"/>
          </a:xfrm>
          <a:prstGeom prst="rect">
            <a:avLst/>
          </a:prstGeom>
          <a:solidFill>
            <a:srgbClr val="E07B39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601968" y="3703320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Deep Learning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918704" y="3703320"/>
            <a:ext cx="1207008" cy="329184"/>
          </a:xfrm>
          <a:prstGeom prst="rect">
            <a:avLst/>
          </a:prstGeom>
          <a:solidFill>
            <a:srgbClr val="00D4B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918704" y="3703320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PyTorch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0" y="470916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DA8"/>
                </a:solidFill>
              </a:rPr>
              <a:t>CSET431 – Special Topics in Computer Engineering  |  Bennett University  |  February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1836</Words>
  <Application>Microsoft Macintosh PowerPoint</Application>
  <PresentationFormat>On-screen Show (16:9)</PresentationFormat>
  <Paragraphs>265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Pix2Pix Image-to-Image Translation</dc:title>
  <dc:subject>PptxGenJS Presentation</dc:subject>
  <dc:creator>Research Scholar</dc:creator>
  <cp:lastModifiedBy>YASH PRATAP  SINGH</cp:lastModifiedBy>
  <cp:revision>2</cp:revision>
  <dcterms:created xsi:type="dcterms:W3CDTF">2026-04-22T18:54:01Z</dcterms:created>
  <dcterms:modified xsi:type="dcterms:W3CDTF">2026-04-22T19:00:46Z</dcterms:modified>
</cp:coreProperties>
</file>